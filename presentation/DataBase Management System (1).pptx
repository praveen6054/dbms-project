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" charset="1" panose="020B0503050203000203"/>
      <p:regular r:id="rId16"/>
    </p:embeddedFont>
    <p:embeddedFont>
      <p:font typeface="Arimo" charset="1" panose="020B0604020202020204"/>
      <p:regular r:id="rId17"/>
    </p:embeddedFont>
    <p:embeddedFont>
      <p:font typeface="IBM Plex Sans Bold" charset="1" panose="020B0803050203000203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762" y="-4762"/>
            <a:ext cx="10990640" cy="10304574"/>
            <a:chOff x="0" y="0"/>
            <a:chExt cx="14654187" cy="13739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54149" cy="13739495"/>
            </a:xfrm>
            <a:custGeom>
              <a:avLst/>
              <a:gdLst/>
              <a:ahLst/>
              <a:cxnLst/>
              <a:rect r="r" b="b" t="t" l="l"/>
              <a:pathLst>
                <a:path h="13739495" w="14654149">
                  <a:moveTo>
                    <a:pt x="0" y="0"/>
                  </a:moveTo>
                  <a:lnTo>
                    <a:pt x="14654149" y="0"/>
                  </a:lnTo>
                  <a:lnTo>
                    <a:pt x="14654149" y="13739495"/>
                  </a:lnTo>
                  <a:lnTo>
                    <a:pt x="0" y="13739495"/>
                  </a:lnTo>
                  <a:close/>
                </a:path>
              </a:pathLst>
            </a:custGeom>
            <a:solidFill>
              <a:srgbClr val="0B0D10"/>
            </a:solid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72106" y="625831"/>
            <a:ext cx="10209000" cy="33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06" y="2496274"/>
            <a:ext cx="9513141" cy="146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1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Legal Case &amp; Client</a:t>
            </a:r>
          </a:p>
          <a:p>
            <a:pPr algn="l">
              <a:lnSpc>
                <a:spcPts val="6261"/>
              </a:lnSpc>
            </a:pPr>
            <a:r>
              <a:rPr lang="en-US" sz="6605" spc="-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Management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106" y="4175427"/>
            <a:ext cx="10209000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 Design, Implementation and Application Demonstration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2106" y="5868743"/>
            <a:ext cx="9513141" cy="140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Student: Praveen Choudhary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Roll Number: 25WU0102215 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Programme/Section: AIML (Leopards)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72106" y="7977016"/>
            <a:ext cx="9513141" cy="9535"/>
            <a:chOff x="0" y="0"/>
            <a:chExt cx="12684188" cy="127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84252" cy="12700"/>
            </a:xfrm>
            <a:custGeom>
              <a:avLst/>
              <a:gdLst/>
              <a:ahLst/>
              <a:cxnLst/>
              <a:rect r="r" b="b" t="t" l="l"/>
              <a:pathLst>
                <a:path h="12700" w="12684252">
                  <a:moveTo>
                    <a:pt x="0" y="0"/>
                  </a:moveTo>
                  <a:lnTo>
                    <a:pt x="12684252" y="0"/>
                  </a:lnTo>
                  <a:lnTo>
                    <a:pt x="1268425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F778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2106" y="8069961"/>
            <a:ext cx="9512998" cy="47511"/>
            <a:chOff x="0" y="0"/>
            <a:chExt cx="12683998" cy="633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83998" cy="63247"/>
            </a:xfrm>
            <a:custGeom>
              <a:avLst/>
              <a:gdLst/>
              <a:ahLst/>
              <a:cxnLst/>
              <a:rect r="r" b="b" t="t" l="l"/>
              <a:pathLst>
                <a:path h="63247" w="12683998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2652375" y="0"/>
                  </a:lnTo>
                  <a:cubicBezTo>
                    <a:pt x="12669901" y="0"/>
                    <a:pt x="12683998" y="14224"/>
                    <a:pt x="12683998" y="31623"/>
                  </a:cubicBezTo>
                  <a:cubicBezTo>
                    <a:pt x="12683998" y="49149"/>
                    <a:pt x="12669774" y="63246"/>
                    <a:pt x="1265237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6F778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72106" y="8760143"/>
            <a:ext cx="10209000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FACULTY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2106" y="9411024"/>
            <a:ext cx="9513141" cy="3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3302" spc="-4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Dr. C Nagaraju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81106" y="0"/>
            <a:ext cx="7320734" cy="10295039"/>
            <a:chOff x="0" y="0"/>
            <a:chExt cx="9760979" cy="1372671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76096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578168"/>
            <a:ext cx="17386744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1335291"/>
            <a:ext cx="16471659" cy="246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0"/>
              </a:lnSpc>
            </a:pPr>
            <a:r>
              <a:rPr lang="en-US" sz="7205" spc="-108">
                <a:solidFill>
                  <a:srgbClr val="0B0D10"/>
                </a:solidFill>
                <a:latin typeface="Arimo"/>
                <a:ea typeface="Arimo"/>
                <a:cs typeface="Arimo"/>
                <a:sym typeface="Arimo"/>
              </a:rPr>
              <a:t>Legal work generates connected records. Managing them separately creates risk.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4685976"/>
            <a:ext cx="9532210" cy="262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Scattered client and case records; missed hearing dates and task deadlines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Hard-to-track documents and lawyer assignments; inaccurate time, expense and billing records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Limited visibility into invoices and payments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7616723"/>
            <a:ext cx="9532210" cy="2068239"/>
            <a:chOff x="0" y="0"/>
            <a:chExt cx="12709614" cy="2757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09652" cy="2757678"/>
            </a:xfrm>
            <a:custGeom>
              <a:avLst/>
              <a:gdLst/>
              <a:ahLst/>
              <a:cxnLst/>
              <a:rect r="r" b="b" t="t" l="l"/>
              <a:pathLst>
                <a:path h="2757678" w="12709652">
                  <a:moveTo>
                    <a:pt x="0" y="0"/>
                  </a:moveTo>
                  <a:lnTo>
                    <a:pt x="12709652" y="0"/>
                  </a:lnTo>
                  <a:lnTo>
                    <a:pt x="12709652" y="2757678"/>
                  </a:lnTo>
                  <a:lnTo>
                    <a:pt x="0" y="2757678"/>
                  </a:lnTo>
                  <a:close/>
                </a:path>
              </a:pathLst>
            </a:custGeom>
            <a:solidFill>
              <a:srgbClr val="0B0D1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20124" y="7842685"/>
            <a:ext cx="9227182" cy="4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0124" y="8418319"/>
            <a:ext cx="8922144" cy="100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 records, preserve integrity, improve deadline visibility, and simplify billing and reporting.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33620" y="4886125"/>
            <a:ext cx="6481905" cy="4798838"/>
            <a:chOff x="0" y="0"/>
            <a:chExt cx="8642540" cy="639845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642477" cy="6398514"/>
            </a:xfrm>
            <a:custGeom>
              <a:avLst/>
              <a:gdLst/>
              <a:ahLst/>
              <a:cxnLst/>
              <a:rect r="r" b="b" t="t" l="l"/>
              <a:pathLst>
                <a:path h="6398514" w="8642477">
                  <a:moveTo>
                    <a:pt x="0" y="0"/>
                  </a:moveTo>
                  <a:lnTo>
                    <a:pt x="8642477" y="0"/>
                  </a:lnTo>
                  <a:lnTo>
                    <a:pt x="8642477" y="6398514"/>
                  </a:lnTo>
                  <a:lnTo>
                    <a:pt x="0" y="6398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" t="0" r="-1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9846183"/>
            <a:ext cx="18288000" cy="448856"/>
            <a:chOff x="0" y="0"/>
            <a:chExt cx="73849372" cy="18125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849409" cy="1812566"/>
            </a:xfrm>
            <a:custGeom>
              <a:avLst/>
              <a:gdLst/>
              <a:ahLst/>
              <a:cxnLst/>
              <a:rect r="r" b="b" t="t" l="l"/>
              <a:pathLst>
                <a:path h="1812566" w="73849409">
                  <a:moveTo>
                    <a:pt x="0" y="0"/>
                  </a:moveTo>
                  <a:lnTo>
                    <a:pt x="73849409" y="0"/>
                  </a:lnTo>
                  <a:lnTo>
                    <a:pt x="73849409" y="1812566"/>
                  </a:lnTo>
                  <a:lnTo>
                    <a:pt x="0" y="1812566"/>
                  </a:lnTo>
                  <a:close/>
                </a:path>
              </a:pathLst>
            </a:custGeom>
            <a:solidFill>
              <a:srgbClr val="CDCBC9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4191000"/>
            <a:chOff x="0" y="0"/>
            <a:chExt cx="24402453" cy="558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5588000"/>
            </a:xfrm>
            <a:custGeom>
              <a:avLst/>
              <a:gdLst/>
              <a:ahLst/>
              <a:cxnLst/>
              <a:rect r="r" b="b" t="t" l="l"/>
              <a:pathLst>
                <a:path h="558800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0B0D1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806948"/>
            <a:ext cx="17386744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CASE LIFECYCLE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1564072"/>
            <a:ext cx="16471659" cy="159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0"/>
              </a:lnSpc>
            </a:pPr>
            <a:r>
              <a:rPr lang="en-US" sz="7205" spc="-10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One connected workspace for the case lifecycle.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3366573"/>
            <a:ext cx="17386744" cy="52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Primary users: Administrator, Lawyer, Case-management staff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4191000"/>
            <a:ext cx="18301840" cy="6104039"/>
            <a:chOff x="0" y="0"/>
            <a:chExt cx="24402453" cy="8138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02414" cy="8138668"/>
            </a:xfrm>
            <a:custGeom>
              <a:avLst/>
              <a:gdLst/>
              <a:ahLst/>
              <a:cxnLst/>
              <a:rect r="r" b="b" t="t" l="l"/>
              <a:pathLst>
                <a:path h="8138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138668"/>
                  </a:lnTo>
                  <a:lnTo>
                    <a:pt x="0" y="8138668"/>
                  </a:lnTo>
                  <a:close/>
                </a:path>
              </a:pathLst>
            </a:custGeom>
            <a:solidFill>
              <a:srgbClr val="0B0D1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5095" y="4372156"/>
            <a:ext cx="16471659" cy="505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Client Registration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Case Creation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Lawyer Assignment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Hearing &amp; Task Tracking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Document Management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Time &amp; Expense Recording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Invoice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Payment</a:t>
            </a:r>
          </a:p>
          <a:p>
            <a:pPr algn="l" marL="489395" indent="-244697" lvl="1">
              <a:lnSpc>
                <a:spcPts val="3793"/>
              </a:lnSpc>
              <a:buAutoNum type="arabicPeriod" startAt="1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Reports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181465"/>
            <a:ext cx="18301840" cy="19069"/>
            <a:chOff x="0" y="0"/>
            <a:chExt cx="24402453" cy="25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02414" cy="25400"/>
            </a:xfrm>
            <a:custGeom>
              <a:avLst/>
              <a:gdLst/>
              <a:ahLst/>
              <a:cxnLst/>
              <a:rect r="r" b="b" t="t" l="l"/>
              <a:pathLst>
                <a:path h="2540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876071"/>
            <a:ext cx="17386744" cy="52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ENTITY RELATIONSHIP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154650"/>
            <a:ext cx="16471659" cy="55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5404" spc="-81">
                <a:solidFill>
                  <a:srgbClr val="0B0D10"/>
                </a:solidFill>
                <a:latin typeface="Arimo"/>
                <a:ea typeface="Arimo"/>
                <a:cs typeface="Arimo"/>
                <a:sym typeface="Arimo"/>
              </a:rPr>
              <a:t>A relational model built around the legal case.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3115437"/>
            <a:ext cx="8007058" cy="3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3302" spc="-49">
                <a:solidFill>
                  <a:srgbClr val="0B0D10"/>
                </a:solidFill>
                <a:latin typeface="IBM Plex Sans"/>
                <a:ea typeface="IBM Plex Sans"/>
                <a:cs typeface="IBM Plex Sans"/>
                <a:sym typeface="IBM Plex Sans"/>
              </a:rPr>
              <a:t>13 entities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3580219"/>
            <a:ext cx="8007058" cy="381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 b="true">
                <a:solidFill>
                  <a:srgbClr val="343A4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Core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CLIENT · LEGAL_CASE · CASE_TYPE · COURT · LAWYER</a:t>
            </a:r>
          </a:p>
          <a:p>
            <a:pPr algn="l">
              <a:lnSpc>
                <a:spcPts val="3793"/>
              </a:lnSpc>
            </a:pPr>
            <a:r>
              <a:rPr lang="en-US" sz="2702" b="true">
                <a:solidFill>
                  <a:srgbClr val="343A4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Relationships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ASSIGNMENT · HEARING · DOCUMENT · TASK</a:t>
            </a:r>
          </a:p>
          <a:p>
            <a:pPr algn="l">
              <a:lnSpc>
                <a:spcPts val="3793"/>
              </a:lnSpc>
            </a:pPr>
            <a:r>
              <a:rPr lang="en-US" sz="2702" b="true">
                <a:solidFill>
                  <a:srgbClr val="343A4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Financial and effort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TIME_ENTRY · EXPENSE · INVOICE · PAYMENT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79696" y="3115437"/>
            <a:ext cx="8007058" cy="3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3302" spc="-49">
                <a:solidFill>
                  <a:srgbClr val="0B0D10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relationships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9696" y="3580219"/>
            <a:ext cx="8007058" cy="402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CLIENT 1 → many LEGAL_CASE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LEGAL_CASE many </a:t>
            </a:r>
            <a:r>
              <a:rPr lang="en-US" sz="270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↔</a:t>
            </a: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many LAWYER, resolved through ASSIGNMENT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LEGAL_CASE 1 → many HEARING, DOCUMENT, TASK, TIME_ENTRY, EXPENSE and INVOICE</a:t>
            </a:r>
          </a:p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INVOICE 1 → many PAYMENT when partial payments are supported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79696" y="7760522"/>
            <a:ext cx="8007058" cy="4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1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PK: Primary Key · FK: Foreign Key · crow’s-foot cardinality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944437" y="9846183"/>
            <a:ext cx="4343563" cy="448856"/>
            <a:chOff x="0" y="0"/>
            <a:chExt cx="17539886" cy="18125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39925" cy="1812566"/>
            </a:xfrm>
            <a:custGeom>
              <a:avLst/>
              <a:gdLst/>
              <a:ahLst/>
              <a:cxnLst/>
              <a:rect r="r" b="b" t="t" l="l"/>
              <a:pathLst>
                <a:path h="1812566" w="17539925">
                  <a:moveTo>
                    <a:pt x="0" y="0"/>
                  </a:moveTo>
                  <a:lnTo>
                    <a:pt x="17539925" y="0"/>
                  </a:lnTo>
                  <a:lnTo>
                    <a:pt x="17539925" y="1812566"/>
                  </a:lnTo>
                  <a:lnTo>
                    <a:pt x="0" y="1812566"/>
                  </a:lnTo>
                  <a:close/>
                </a:path>
              </a:pathLst>
            </a:custGeom>
            <a:solidFill>
              <a:srgbClr val="CDCBC9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155221"/>
            <a:ext cx="16471659" cy="159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0"/>
              </a:lnSpc>
            </a:pPr>
            <a:r>
              <a:rPr lang="en-US" sz="7205" spc="-108">
                <a:solidFill>
                  <a:srgbClr val="0B0D10"/>
                </a:solidFill>
                <a:latin typeface="Arimo"/>
                <a:ea typeface="Arimo"/>
                <a:cs typeface="Arimo"/>
                <a:sym typeface="Arimo"/>
              </a:rPr>
              <a:t>Structured tables reduce duplication and update anomalies.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3130639"/>
            <a:ext cx="7892672" cy="3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3302" spc="-49">
                <a:solidFill>
                  <a:srgbClr val="0B0D1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Representative schemas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3603984"/>
            <a:ext cx="7892672" cy="100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CLIENT · LEGAL_CASE · LAWYER · ASSIGNMENT · HEARING · INVOICE · PAYMENT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4887316"/>
            <a:ext cx="7892672" cy="47511"/>
            <a:chOff x="0" y="0"/>
            <a:chExt cx="10523563" cy="633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23474" cy="63247"/>
            </a:xfrm>
            <a:custGeom>
              <a:avLst/>
              <a:gdLst/>
              <a:ahLst/>
              <a:cxnLst/>
              <a:rect r="r" b="b" t="t" l="l"/>
              <a:pathLst>
                <a:path h="63247" w="10523474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0491851" y="0"/>
                  </a:lnTo>
                  <a:cubicBezTo>
                    <a:pt x="10509377" y="0"/>
                    <a:pt x="10523474" y="14224"/>
                    <a:pt x="10523474" y="31623"/>
                  </a:cubicBezTo>
                  <a:cubicBezTo>
                    <a:pt x="10523474" y="49149"/>
                    <a:pt x="10509250" y="63246"/>
                    <a:pt x="10491851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95" y="5179524"/>
            <a:ext cx="7892672" cy="100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LEGAL_CASE includes case_number UNIQUE plus client_id, case_type_id and court_id foreign keys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4082" y="3130639"/>
            <a:ext cx="7892672" cy="32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3302" spc="-49">
                <a:solidFill>
                  <a:srgbClr val="0B0D1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Normalization check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9494080" y="3643033"/>
          <a:ext cx="7873801" cy="4175212"/>
        </p:xfrm>
        <a:graphic>
          <a:graphicData uri="http://schemas.openxmlformats.org/drawingml/2006/table">
            <a:tbl>
              <a:tblPr/>
              <a:tblGrid>
                <a:gridCol w="1417201"/>
                <a:gridCol w="6456600"/>
              </a:tblGrid>
              <a:tr h="12397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343A4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1NF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Atomic values and no repeating groups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97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343A4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2NF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 partial dependency on part of a composite key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5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 b="true">
                          <a:solidFill>
                            <a:srgbClr val="343A4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3NF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 inappropriate transitive dependency between non-key attributes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9494082" y="4878048"/>
            <a:ext cx="7892672" cy="19069"/>
            <a:chOff x="0" y="0"/>
            <a:chExt cx="10523563" cy="25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23601" cy="25400"/>
            </a:xfrm>
            <a:custGeom>
              <a:avLst/>
              <a:gdLst/>
              <a:ahLst/>
              <a:cxnLst/>
              <a:rect r="r" b="b" t="t" l="l"/>
              <a:pathLst>
                <a:path h="25400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94082" y="6132128"/>
            <a:ext cx="7892672" cy="19069"/>
            <a:chOff x="0" y="0"/>
            <a:chExt cx="10523563" cy="254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23601" cy="25400"/>
            </a:xfrm>
            <a:custGeom>
              <a:avLst/>
              <a:gdLst/>
              <a:ahLst/>
              <a:cxnLst/>
              <a:rect r="r" b="b" t="t" l="l"/>
              <a:pathLst>
                <a:path h="25400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94082" y="8027784"/>
            <a:ext cx="7892672" cy="148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State 3NF as the final design only after functional dependencies are checked; complete schema includes all ERD entities.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770449" y="9846183"/>
            <a:ext cx="4517551" cy="448856"/>
            <a:chOff x="0" y="0"/>
            <a:chExt cx="18242471" cy="18125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42510" cy="1812566"/>
            </a:xfrm>
            <a:custGeom>
              <a:avLst/>
              <a:gdLst/>
              <a:ahLst/>
              <a:cxnLst/>
              <a:rect r="r" b="b" t="t" l="l"/>
              <a:pathLst>
                <a:path h="1812566" w="18242510">
                  <a:moveTo>
                    <a:pt x="0" y="0"/>
                  </a:moveTo>
                  <a:lnTo>
                    <a:pt x="18242510" y="0"/>
                  </a:lnTo>
                  <a:lnTo>
                    <a:pt x="18242510" y="1812566"/>
                  </a:lnTo>
                  <a:lnTo>
                    <a:pt x="0" y="1812566"/>
                  </a:lnTo>
                  <a:close/>
                </a:path>
              </a:pathLst>
            </a:custGeom>
            <a:solidFill>
              <a:srgbClr val="CDCBC9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762" y="-4762"/>
            <a:ext cx="9160450" cy="10304574"/>
            <a:chOff x="0" y="0"/>
            <a:chExt cx="12213933" cy="13739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13971" cy="13739495"/>
            </a:xfrm>
            <a:custGeom>
              <a:avLst/>
              <a:gdLst/>
              <a:ahLst/>
              <a:cxnLst/>
              <a:rect r="r" b="b" t="t" l="l"/>
              <a:pathLst>
                <a:path h="13739495" w="12213971">
                  <a:moveTo>
                    <a:pt x="0" y="0"/>
                  </a:moveTo>
                  <a:lnTo>
                    <a:pt x="12213971" y="0"/>
                  </a:lnTo>
                  <a:lnTo>
                    <a:pt x="12213971" y="13739495"/>
                  </a:lnTo>
                  <a:lnTo>
                    <a:pt x="0" y="13739495"/>
                  </a:lnTo>
                  <a:close/>
                </a:path>
              </a:pathLst>
            </a:custGeom>
            <a:solidFill>
              <a:srgbClr val="0B0D10"/>
            </a:solid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72106" y="663969"/>
            <a:ext cx="8378809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INTEGRITY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06" y="1421082"/>
            <a:ext cx="7797346" cy="246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0"/>
              </a:lnSpc>
            </a:pPr>
            <a:r>
              <a:rPr lang="en-US" sz="7205" spc="-10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Constraints make invalid records harder to create.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106" y="4084244"/>
            <a:ext cx="7797346" cy="406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Primary and foreign keys protect identity and referential integrity; UNIQUE case numbers; NOT NULL mandatory attributes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 constraints for non-negative hours and expenses; validation for hearing and task dates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Payment validation against invoice balances; transactions for related billing updates; indexes on frequently searched attributes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6153" y="-4762"/>
            <a:ext cx="9160450" cy="10304574"/>
            <a:chOff x="0" y="0"/>
            <a:chExt cx="12213933" cy="13739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13971" cy="13739495"/>
            </a:xfrm>
            <a:custGeom>
              <a:avLst/>
              <a:gdLst/>
              <a:ahLst/>
              <a:cxnLst/>
              <a:rect r="r" b="b" t="t" l="l"/>
              <a:pathLst>
                <a:path h="13739495" w="12213971">
                  <a:moveTo>
                    <a:pt x="0" y="0"/>
                  </a:moveTo>
                  <a:lnTo>
                    <a:pt x="12213971" y="0"/>
                  </a:lnTo>
                  <a:lnTo>
                    <a:pt x="12213971" y="13739495"/>
                  </a:lnTo>
                  <a:lnTo>
                    <a:pt x="0" y="13739495"/>
                  </a:lnTo>
                  <a:close/>
                </a:path>
              </a:pathLst>
            </a:custGeom>
            <a:solidFill>
              <a:srgbClr val="0B0D10"/>
            </a:solid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32388" y="663969"/>
            <a:ext cx="8569452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SQLITE · EXAMPLE EXCERPT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32388" y="1428826"/>
            <a:ext cx="7797346" cy="6725441"/>
            <a:chOff x="0" y="0"/>
            <a:chExt cx="10396461" cy="89672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96474" cy="8967216"/>
            </a:xfrm>
            <a:custGeom>
              <a:avLst/>
              <a:gdLst/>
              <a:ahLst/>
              <a:cxnLst/>
              <a:rect r="r" b="b" t="t" l="l"/>
              <a:pathLst>
                <a:path h="8967216" w="10396474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10373614" y="0"/>
                  </a:lnTo>
                  <a:cubicBezTo>
                    <a:pt x="10386187" y="0"/>
                    <a:pt x="10396474" y="10287"/>
                    <a:pt x="10396474" y="22860"/>
                  </a:cubicBezTo>
                  <a:lnTo>
                    <a:pt x="10396474" y="8944356"/>
                  </a:lnTo>
                  <a:cubicBezTo>
                    <a:pt x="10396474" y="8956929"/>
                    <a:pt x="10386187" y="8967216"/>
                    <a:pt x="10373614" y="8967216"/>
                  </a:cubicBezTo>
                  <a:lnTo>
                    <a:pt x="22860" y="8967216"/>
                  </a:lnTo>
                  <a:cubicBezTo>
                    <a:pt x="10287" y="8967216"/>
                    <a:pt x="0" y="8956929"/>
                    <a:pt x="0" y="8944356"/>
                  </a:cubicBezTo>
                  <a:close/>
                </a:path>
              </a:pathLst>
            </a:custGeom>
            <a:solidFill>
              <a:srgbClr val="E8EBE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44058" y="1610068"/>
            <a:ext cx="6974005" cy="620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CREATE TABLE legal_case (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case_id INTEGER PRIMARY KEY,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case_number TEXT NOT NULL UNIQUE,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client_id INTEGER NOT NULL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REFERENCES client(client_id),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case_type_id INTEGER NOT NULL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REFERENCES case_type(case_type_id),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court_id INTEGER NOT NULL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REFERENCES court(court_id),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CHECK (trim(case_number) &lt;&gt; '')</a:t>
            </a:r>
          </a:p>
          <a:p>
            <a:pPr algn="l">
              <a:lnSpc>
                <a:spcPts val="4312"/>
              </a:lnSpc>
            </a:pPr>
            <a:r>
              <a:rPr lang="en-US" sz="2702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2388" y="8499377"/>
            <a:ext cx="8569452" cy="4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Example, not the complete script.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3774853"/>
            <a:chOff x="0" y="0"/>
            <a:chExt cx="24402453" cy="50331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5033137"/>
            </a:xfrm>
            <a:custGeom>
              <a:avLst/>
              <a:gdLst/>
              <a:ahLst/>
              <a:cxnLst/>
              <a:rect r="r" b="b" t="t" l="l"/>
              <a:pathLst>
                <a:path h="503313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033137"/>
                  </a:lnTo>
                  <a:lnTo>
                    <a:pt x="0" y="5033137"/>
                  </a:lnTo>
                  <a:close/>
                </a:path>
              </a:pathLst>
            </a:custGeom>
            <a:solidFill>
              <a:srgbClr val="E8EBE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773925"/>
            <a:ext cx="16471659" cy="159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0"/>
              </a:lnSpc>
            </a:pPr>
            <a:r>
              <a:rPr lang="en-US" sz="7205" spc="-10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front end turns the database into a usable workflow.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3774853"/>
            <a:ext cx="18301840" cy="6520196"/>
            <a:chOff x="0" y="0"/>
            <a:chExt cx="24402453" cy="8693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02414" cy="8693531"/>
            </a:xfrm>
            <a:custGeom>
              <a:avLst/>
              <a:gdLst/>
              <a:ahLst/>
              <a:cxnLst/>
              <a:rect r="r" b="b" t="t" l="l"/>
              <a:pathLst>
                <a:path h="869353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693531"/>
                  </a:lnTo>
                  <a:lnTo>
                    <a:pt x="0" y="8693531"/>
                  </a:lnTo>
                  <a:close/>
                </a:path>
              </a:pathLst>
            </a:custGeom>
            <a:solidFill>
              <a:srgbClr val="0B0D1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6324" y="5554266"/>
            <a:ext cx="17615525" cy="52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User → Java/Python Application → Validation &amp; Business Logic → Relational Database → Queries &amp; Reports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324" y="6335839"/>
            <a:ext cx="8235829" cy="21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Language: Python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 end: HTML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 engine: SQLite, managed through DB Browser for SQLite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9696" y="6335839"/>
            <a:ext cx="8235829" cy="109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queries, joins and reports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Front-end CRUD interface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762" y="-4762"/>
            <a:ext cx="6720211" cy="10304574"/>
            <a:chOff x="0" y="0"/>
            <a:chExt cx="8960282" cy="13739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60231" cy="13739495"/>
            </a:xfrm>
            <a:custGeom>
              <a:avLst/>
              <a:gdLst/>
              <a:ahLst/>
              <a:cxnLst/>
              <a:rect r="r" b="b" t="t" l="l"/>
              <a:pathLst>
                <a:path h="13739495" w="8960231">
                  <a:moveTo>
                    <a:pt x="0" y="0"/>
                  </a:moveTo>
                  <a:lnTo>
                    <a:pt x="8960231" y="0"/>
                  </a:lnTo>
                  <a:lnTo>
                    <a:pt x="8960231" y="13739495"/>
                  </a:lnTo>
                  <a:lnTo>
                    <a:pt x="0" y="13739495"/>
                  </a:lnTo>
                  <a:close/>
                </a:path>
              </a:pathLst>
            </a:custGeom>
            <a:solidFill>
              <a:srgbClr val="0B0D10"/>
            </a:solidFill>
            <a:ln w="9532" cap="sq">
              <a:solidFill>
                <a:srgbClr val="6F778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19592" y="587702"/>
            <a:ext cx="6091085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APPLICATION EVIDENCE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9592" y="1344825"/>
            <a:ext cx="5623998" cy="333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0"/>
              </a:lnSpc>
            </a:pPr>
            <a:r>
              <a:rPr lang="en-US" sz="7205" spc="-10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From registration to case tracking.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05905" y="-4762"/>
            <a:ext cx="11600698" cy="10304574"/>
            <a:chOff x="0" y="0"/>
            <a:chExt cx="15467597" cy="13739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67585" cy="13739495"/>
            </a:xfrm>
            <a:custGeom>
              <a:avLst/>
              <a:gdLst/>
              <a:ahLst/>
              <a:cxnLst/>
              <a:rect r="r" b="b" t="t" l="l"/>
              <a:pathLst>
                <a:path h="13739495" w="15467585">
                  <a:moveTo>
                    <a:pt x="0" y="0"/>
                  </a:moveTo>
                  <a:lnTo>
                    <a:pt x="15467585" y="0"/>
                  </a:lnTo>
                  <a:lnTo>
                    <a:pt x="15467585" y="13739495"/>
                  </a:lnTo>
                  <a:lnTo>
                    <a:pt x="0" y="13739495"/>
                  </a:lnTo>
                  <a:close/>
                </a:path>
              </a:pathLst>
            </a:custGeom>
            <a:solidFill>
              <a:srgbClr val="0B0D10"/>
            </a:solidFill>
            <a:ln w="9532" cap="sq">
              <a:solidFill>
                <a:srgbClr val="6F778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438508" y="738292"/>
            <a:ext cx="4565933" cy="4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Application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8508" y="5472184"/>
            <a:ext cx="4565933" cy="4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SQLite database evidence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9592" y="4087733"/>
            <a:ext cx="5623998" cy="73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Browser and application chrome retained where it establishes authenticity.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438508" y="5907997"/>
            <a:ext cx="10135491" cy="3938186"/>
            <a:chOff x="0" y="0"/>
            <a:chExt cx="12882842" cy="5005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82905" cy="5005679"/>
            </a:xfrm>
            <a:custGeom>
              <a:avLst/>
              <a:gdLst/>
              <a:ahLst/>
              <a:cxnLst/>
              <a:rect r="r" b="b" t="t" l="l"/>
              <a:pathLst>
                <a:path h="5005679" w="12882905">
                  <a:moveTo>
                    <a:pt x="0" y="0"/>
                  </a:moveTo>
                  <a:lnTo>
                    <a:pt x="12882905" y="0"/>
                  </a:lnTo>
                  <a:lnTo>
                    <a:pt x="12882905" y="5005679"/>
                  </a:lnTo>
                  <a:lnTo>
                    <a:pt x="0" y="5005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070" r="0" b="-3107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438508" y="1201950"/>
            <a:ext cx="10135491" cy="3938186"/>
            <a:chOff x="0" y="0"/>
            <a:chExt cx="12882842" cy="5005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82905" cy="5005679"/>
            </a:xfrm>
            <a:custGeom>
              <a:avLst/>
              <a:gdLst/>
              <a:ahLst/>
              <a:cxnLst/>
              <a:rect r="r" b="b" t="t" l="l"/>
              <a:pathLst>
                <a:path h="5005679" w="12882905">
                  <a:moveTo>
                    <a:pt x="0" y="0"/>
                  </a:moveTo>
                  <a:lnTo>
                    <a:pt x="12882905" y="0"/>
                  </a:lnTo>
                  <a:lnTo>
                    <a:pt x="12882905" y="5005679"/>
                  </a:lnTo>
                  <a:lnTo>
                    <a:pt x="0" y="5005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80" r="0" b="-1048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8771" y="196872"/>
            <a:ext cx="6230341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OPERATIONAL DECISIONS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71" y="953995"/>
            <a:ext cx="6001569" cy="333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0"/>
              </a:lnSpc>
            </a:pPr>
            <a:r>
              <a:rPr lang="en-US" sz="7205" spc="-108">
                <a:solidFill>
                  <a:srgbClr val="0B0D10"/>
                </a:solidFill>
                <a:latin typeface="Arimo"/>
                <a:ea typeface="Arimo"/>
                <a:cs typeface="Arimo"/>
                <a:sym typeface="Arimo"/>
              </a:rPr>
              <a:t>The database supports operational decisions.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771" y="4494971"/>
            <a:ext cx="6001569" cy="24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Reports cover upcoming hearings, pending tasks, lawyer workload, billable time and expenses, outstanding invoices, and case status summaries.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8771" y="7204605"/>
            <a:ext cx="6001569" cy="79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1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concepts: JOINs, GROUP BY, aggregates, subqueries, views, search and filtering.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374056" y="228779"/>
          <a:ext cx="10676341" cy="6939622"/>
        </p:xfrm>
        <a:graphic>
          <a:graphicData uri="http://schemas.openxmlformats.org/drawingml/2006/table">
            <a:tbl>
              <a:tblPr/>
              <a:tblGrid>
                <a:gridCol w="4270447"/>
                <a:gridCol w="6405894"/>
              </a:tblGrid>
              <a:tr h="764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B0D1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 scenario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0B0D1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Expected validation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Duplicate case number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UNIQUE constraint prevents the duplicate record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Invalid hearing date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Date validation rejects the invalid record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Negative time or expense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CHECK constraint rejects the negative value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Payment over outstanding balance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Payment validation rejects the excess amount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9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 by case number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2"/>
                        </a:lnSpc>
                        <a:defRPr/>
                      </a:pPr>
                      <a:r>
                        <a:rPr lang="en-US" sz="2702">
                          <a:solidFill>
                            <a:srgbClr val="343A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 returns the matching case record</a:t>
                      </a:r>
                      <a:endParaRPr lang="en-US" sz="1100"/>
                    </a:p>
                  </a:txBody>
                  <a:tcPr marL="171446" marR="171446" marT="171446" marB="17144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7374055" y="983466"/>
            <a:ext cx="10699013" cy="19069"/>
            <a:chOff x="0" y="0"/>
            <a:chExt cx="14265351" cy="254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65402" cy="25400"/>
            </a:xfrm>
            <a:custGeom>
              <a:avLst/>
              <a:gdLst/>
              <a:ahLst/>
              <a:cxnLst/>
              <a:rect r="r" b="b" t="t" l="l"/>
              <a:pathLst>
                <a:path h="25400" w="14265402">
                  <a:moveTo>
                    <a:pt x="0" y="0"/>
                  </a:moveTo>
                  <a:lnTo>
                    <a:pt x="14265402" y="0"/>
                  </a:lnTo>
                  <a:lnTo>
                    <a:pt x="1426540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74055" y="2237546"/>
            <a:ext cx="10699013" cy="19069"/>
            <a:chOff x="0" y="0"/>
            <a:chExt cx="14265351" cy="254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65402" cy="25400"/>
            </a:xfrm>
            <a:custGeom>
              <a:avLst/>
              <a:gdLst/>
              <a:ahLst/>
              <a:cxnLst/>
              <a:rect r="r" b="b" t="t" l="l"/>
              <a:pathLst>
                <a:path h="25400" w="14265402">
                  <a:moveTo>
                    <a:pt x="0" y="0"/>
                  </a:moveTo>
                  <a:lnTo>
                    <a:pt x="14265402" y="0"/>
                  </a:lnTo>
                  <a:lnTo>
                    <a:pt x="1426540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74055" y="3491627"/>
            <a:ext cx="10699013" cy="19069"/>
            <a:chOff x="0" y="0"/>
            <a:chExt cx="14265351" cy="25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65402" cy="25400"/>
            </a:xfrm>
            <a:custGeom>
              <a:avLst/>
              <a:gdLst/>
              <a:ahLst/>
              <a:cxnLst/>
              <a:rect r="r" b="b" t="t" l="l"/>
              <a:pathLst>
                <a:path h="25400" w="14265402">
                  <a:moveTo>
                    <a:pt x="0" y="0"/>
                  </a:moveTo>
                  <a:lnTo>
                    <a:pt x="14265402" y="0"/>
                  </a:lnTo>
                  <a:lnTo>
                    <a:pt x="1426540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74055" y="4745707"/>
            <a:ext cx="10699013" cy="19069"/>
            <a:chOff x="0" y="0"/>
            <a:chExt cx="14265351" cy="25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65402" cy="25400"/>
            </a:xfrm>
            <a:custGeom>
              <a:avLst/>
              <a:gdLst/>
              <a:ahLst/>
              <a:cxnLst/>
              <a:rect r="r" b="b" t="t" l="l"/>
              <a:pathLst>
                <a:path h="25400" w="14265402">
                  <a:moveTo>
                    <a:pt x="0" y="0"/>
                  </a:moveTo>
                  <a:lnTo>
                    <a:pt x="14265402" y="0"/>
                  </a:lnTo>
                  <a:lnTo>
                    <a:pt x="1426540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374055" y="5999788"/>
            <a:ext cx="10699013" cy="19069"/>
            <a:chOff x="0" y="0"/>
            <a:chExt cx="14265351" cy="254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65402" cy="25400"/>
            </a:xfrm>
            <a:custGeom>
              <a:avLst/>
              <a:gdLst/>
              <a:ahLst/>
              <a:cxnLst/>
              <a:rect r="r" b="b" t="t" l="l"/>
              <a:pathLst>
                <a:path h="25400" w="14265402">
                  <a:moveTo>
                    <a:pt x="0" y="0"/>
                  </a:moveTo>
                  <a:lnTo>
                    <a:pt x="14265402" y="0"/>
                  </a:lnTo>
                  <a:lnTo>
                    <a:pt x="1426540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374055" y="7522893"/>
            <a:ext cx="10927785" cy="4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1">
                <a:solidFill>
                  <a:srgbClr val="343A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Expected validation is shown; actual test outcomes are not supplied.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857443" y="9846183"/>
            <a:ext cx="4430557" cy="448856"/>
            <a:chOff x="0" y="0"/>
            <a:chExt cx="17891178" cy="18125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891216" cy="1812566"/>
            </a:xfrm>
            <a:custGeom>
              <a:avLst/>
              <a:gdLst/>
              <a:ahLst/>
              <a:cxnLst/>
              <a:rect r="r" b="b" t="t" l="l"/>
              <a:pathLst>
                <a:path h="1812566" w="17891216">
                  <a:moveTo>
                    <a:pt x="0" y="0"/>
                  </a:moveTo>
                  <a:lnTo>
                    <a:pt x="17891216" y="0"/>
                  </a:lnTo>
                  <a:lnTo>
                    <a:pt x="17891216" y="1812566"/>
                  </a:lnTo>
                  <a:lnTo>
                    <a:pt x="0" y="1812566"/>
                  </a:lnTo>
                  <a:close/>
                </a:path>
              </a:pathLst>
            </a:custGeom>
            <a:solidFill>
              <a:srgbClr val="CDCBC9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762" y="-4762"/>
            <a:ext cx="10380574" cy="10304574"/>
            <a:chOff x="0" y="0"/>
            <a:chExt cx="13840765" cy="13739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40713" cy="13739495"/>
            </a:xfrm>
            <a:custGeom>
              <a:avLst/>
              <a:gdLst/>
              <a:ahLst/>
              <a:cxnLst/>
              <a:rect r="r" b="b" t="t" l="l"/>
              <a:pathLst>
                <a:path h="13739495" w="13840713">
                  <a:moveTo>
                    <a:pt x="0" y="0"/>
                  </a:moveTo>
                  <a:lnTo>
                    <a:pt x="13840713" y="0"/>
                  </a:lnTo>
                  <a:lnTo>
                    <a:pt x="13840713" y="13739495"/>
                  </a:lnTo>
                  <a:lnTo>
                    <a:pt x="0" y="13739495"/>
                  </a:lnTo>
                  <a:close/>
                </a:path>
              </a:pathLst>
            </a:custGeom>
            <a:solidFill>
              <a:srgbClr val="0B0D10"/>
            </a:solidFill>
            <a:ln w="9532" cap="sq">
              <a:solidFill>
                <a:srgbClr val="6F778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00877" y="892740"/>
            <a:ext cx="9370162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CLOSING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877" y="2204247"/>
            <a:ext cx="8559927" cy="632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7"/>
              </a:lnSpc>
            </a:pPr>
            <a:r>
              <a:rPr lang="en-US" sz="10207" spc="-15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more traceable,</a:t>
            </a:r>
          </a:p>
          <a:p>
            <a:pPr algn="l">
              <a:lnSpc>
                <a:spcPts val="10167"/>
              </a:lnSpc>
            </a:pPr>
            <a:r>
              <a:rPr lang="en-US" sz="10207" spc="-15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organized legal workflow.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877" y="9003525"/>
            <a:ext cx="9370162" cy="52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 You — Questions &amp; Discussion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371039" y="0"/>
            <a:ext cx="7930801" cy="10295039"/>
            <a:chOff x="0" y="0"/>
            <a:chExt cx="10574401" cy="13726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7440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574401">
                  <a:moveTo>
                    <a:pt x="0" y="0"/>
                  </a:moveTo>
                  <a:lnTo>
                    <a:pt x="10574401" y="0"/>
                  </a:lnTo>
                  <a:lnTo>
                    <a:pt x="1057440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8F9F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057363" y="806948"/>
            <a:ext cx="7244477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SYSTEM CONNECTS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57363" y="1447924"/>
            <a:ext cx="6405648" cy="423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Centralized client and case records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Connected hearings, documents, tasks and assignments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Structured time tracking, expenses and billing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Referential integrity and normalized database design</a:t>
            </a:r>
          </a:p>
          <a:p>
            <a:pPr algn="l" marL="489395" indent="-244697" lvl="1">
              <a:lnSpc>
                <a:spcPts val="379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Searchable records and reporting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057363" y="6074702"/>
            <a:ext cx="6405648" cy="47511"/>
            <a:chOff x="0" y="0"/>
            <a:chExt cx="8540864" cy="633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40750" cy="63247"/>
            </a:xfrm>
            <a:custGeom>
              <a:avLst/>
              <a:gdLst/>
              <a:ahLst/>
              <a:cxnLst/>
              <a:rect r="r" b="b" t="t" l="l"/>
              <a:pathLst>
                <a:path h="63247" w="8540750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8509127" y="0"/>
                  </a:lnTo>
                  <a:cubicBezTo>
                    <a:pt x="8526653" y="0"/>
                    <a:pt x="8540750" y="14224"/>
                    <a:pt x="8540750" y="31623"/>
                  </a:cubicBezTo>
                  <a:cubicBezTo>
                    <a:pt x="8540750" y="49149"/>
                    <a:pt x="8526526" y="63246"/>
                    <a:pt x="8509127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6F778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057363" y="6483677"/>
            <a:ext cx="7244477" cy="38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1" spc="27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SCOPE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57363" y="7133225"/>
            <a:ext cx="6405648" cy="148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Role-based access control, automated reminders, secure document storage, PDF invoices, audit logs and backups.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DAHX4jI3HZQ</dc:identifier>
  <dcterms:modified xsi:type="dcterms:W3CDTF">2011-08-01T06:04:30Z</dcterms:modified>
  <cp:revision>1</cp:revision>
  <dc:title>DataBase Management System</dc:title>
</cp:coreProperties>
</file>